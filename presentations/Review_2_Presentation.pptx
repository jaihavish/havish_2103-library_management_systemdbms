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5B4FC"/>
                </a:solidFill>
              </a:defRPr>
            </a:pPr>
            <a:r>
              <a:t>DATABASE MANAGEMENT SYSTEMS • PROJECT REVIEW 2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DESIGN AND IMPLEMENTATION OF A DATABASE MANAGEMENT SYSTEM FOR LIBRARY CIRCULATION AND DIGITAL RESOURCE MANAGEMENT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</a:defRPr>
            </a:pPr>
            <a:r>
              <a:t>Focus: Conceptual E-R Modeling, Relational Schema Conversion, Normalization (1NF–3NF), Integrity Constraints &amp; Schema DDL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Student: Jai Havish Sannapareddy  |  Roll No: 25WU0102103  |  Program: AI/ML  |  Section: AI/ML RHINOS  |  Faculty: Miss Sahiti  |  15/10/2026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Project Evolution: Progress from Review 1 to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Review 1 Scope &amp; Problem Definition</a:t>
            </a:r>
            <a:r>
              <a:rPr b="1" sz="1200">
                <a:solidFill>
                  <a:srgbClr val="1E293B"/>
                </a:solidFill>
              </a:rPr>
              <a:t>• Problem Statement: </a:t>
            </a:r>
            <a:r>
              <a:rPr b="0" sz="1200">
                <a:solidFill>
                  <a:srgbClr val="1E293B"/>
                </a:solidFill>
              </a:rPr>
              <a:t>Manual registers and isolated spreadsheets cause duplicate data, untracked book copies, lost fines, and zero visibility into queue waiting lists.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Objectives Set: </a:t>
            </a:r>
            <a:r>
              <a:rPr b="0" sz="1200">
                <a:solidFill>
                  <a:srgbClr val="1E293B"/>
                </a:solidFill>
              </a:rPr>
              <a:t>Design an integrated, centralized relational database to manage print books, digital resources, patrons, circulation, and fines.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User Roles Identified: </a:t>
            </a:r>
            <a:r>
              <a:rPr b="0" sz="1200">
                <a:solidFill>
                  <a:srgbClr val="1E293B"/>
                </a:solidFill>
              </a:rPr>
              <a:t>Librarians (daily operations), Admins (policies &amp; reports), and Members (students, faculty, public).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Initial Scope: </a:t>
            </a:r>
            <a:r>
              <a:rPr b="0" sz="1200">
                <a:solidFill>
                  <a:srgbClr val="1E293B"/>
                </a:solidFill>
              </a:rPr>
              <a:t>High-level requirements gathering and initial feature specification.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Review 2 Deliverables Achieved</a:t>
            </a:r>
            <a:r>
              <a:rPr b="1" sz="1200">
                <a:solidFill>
                  <a:srgbClr val="1E293B"/>
                </a:solidFill>
              </a:rPr>
              <a:t>• Comprehensive E-R Model: </a:t>
            </a:r>
            <a:r>
              <a:rPr b="0" sz="1200">
                <a:solidFill>
                  <a:srgbClr val="1E293B"/>
                </a:solidFill>
              </a:rPr>
              <a:t>Identified 15 distinct entities, cardinalities, associative entities, and relationship attributes.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3-Tier Catalog Architecture: </a:t>
            </a:r>
            <a:r>
              <a:rPr b="0" sz="1200">
                <a:solidFill>
                  <a:srgbClr val="1E293B"/>
                </a:solidFill>
              </a:rPr>
              <a:t>Split Book (title work), Edition (ISBN publication), and Copy (physical barcode/shelf item).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Relational Mapping: </a:t>
            </a:r>
            <a:r>
              <a:rPr b="0" sz="1200">
                <a:solidFill>
                  <a:srgbClr val="1E293B"/>
                </a:solidFill>
              </a:rPr>
              <a:t>Transformed conceptual ER model into normalized relational schemas with full foreign key constraints.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Formal Normalization Proof: </a:t>
            </a:r>
            <a:r>
              <a:rPr b="0" sz="1200">
                <a:solidFill>
                  <a:srgbClr val="1E293B"/>
                </a:solidFill>
              </a:rPr>
              <a:t>Verified progression through 1NF, 2NF, and 3NF/BCNF to prevent update, insertion, and deletion anomalies.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MySQL 8.0 DDL Scripts: </a:t>
            </a:r>
            <a:r>
              <a:rPr b="0" sz="1200">
                <a:solidFill>
                  <a:srgbClr val="1E293B"/>
                </a:solidFill>
              </a:rPr>
              <a:t>Implemented 01_schema.sql with primary keys, checks, enums, cascades, and indexes.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System Requirements &amp; Circulation Rules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F46E5"/>
                </a:solidFill>
              </a:defRPr>
            </a:pPr>
            <a:r>
              <a:t>1. Functional Scope</a:t>
            </a:r>
            <a:r>
              <a:rPr b="1" sz="1100">
                <a:solidFill>
                  <a:srgbClr val="1E293B"/>
                </a:solidFill>
              </a:rPr>
              <a:t>• Catalog Control: </a:t>
            </a:r>
            <a:r>
              <a:rPr b="0" sz="1100">
                <a:solidFill>
                  <a:srgbClr val="1E293B"/>
                </a:solidFill>
              </a:rPr>
              <a:t>Manage books, editions, authors, publishers, and categories.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Copy Tracking: </a:t>
            </a:r>
            <a:r>
              <a:rPr b="0" sz="1100">
                <a:solidFill>
                  <a:srgbClr val="1E293B"/>
                </a:solidFill>
              </a:rPr>
              <a:t>Unique accession numbers per physical copy with real-time status.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Circulation: </a:t>
            </a:r>
            <a:r>
              <a:rPr b="0" sz="1100">
                <a:solidFill>
                  <a:srgbClr val="1E293B"/>
                </a:solidFill>
              </a:rPr>
              <a:t>Issue, return, and loan renewal operations.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Hold Queue: </a:t>
            </a:r>
            <a:r>
              <a:rPr b="0" sz="1100">
                <a:solidFill>
                  <a:srgbClr val="1E293B"/>
                </a:solidFill>
              </a:rPr>
              <a:t>Ordered waitlist reservations for out-of-stock titles.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Fines &amp; Audits: </a:t>
            </a:r>
            <a:r>
              <a:rPr b="0" sz="1100">
                <a:solidFill>
                  <a:srgbClr val="1E293B"/>
                </a:solidFill>
              </a:rPr>
              <a:t>Overdue fee calculation and payment tracking.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Digital Assets: </a:t>
            </a:r>
            <a:r>
              <a:rPr b="0" sz="1100">
                <a:solidFill>
                  <a:srgbClr val="1E293B"/>
                </a:solidFill>
              </a:rPr>
              <a:t>E-books, journals, and patron access duration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2. Tiered Policy Table</a:t>
            </a:r>
            <a:r>
              <a:rPr b="1" sz="1100">
                <a:solidFill>
                  <a:srgbClr val="1E293B"/>
                </a:solidFill>
              </a:rPr>
              <a:t>• Student Policy: </a:t>
            </a:r>
            <a:r>
              <a:rPr b="0" sz="1100">
                <a:solidFill>
                  <a:srgbClr val="1E293B"/>
                </a:solidFill>
              </a:rPr>
              <a:t>Max 3 books concurrently | 14-day loan period | ₹2.00 / late day fine.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Faculty Policy: </a:t>
            </a:r>
            <a:r>
              <a:rPr b="0" sz="1100">
                <a:solidFill>
                  <a:srgbClr val="1E293B"/>
                </a:solidFill>
              </a:rPr>
              <a:t>Max 6 books concurrently | 30-day loan period | ₹1.00 / late day fine.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Public Policy: </a:t>
            </a:r>
            <a:r>
              <a:rPr b="0" sz="1100">
                <a:solidFill>
                  <a:srgbClr val="1E293B"/>
                </a:solidFill>
              </a:rPr>
              <a:t>Max 2 books concurrently | 7-day loan period | ₹5.00 / late day fine.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Separation Rationale: </a:t>
            </a:r>
            <a:r>
              <a:rPr b="0" sz="1100">
                <a:solidFill>
                  <a:srgbClr val="1E293B"/>
                </a:solidFill>
              </a:rPr>
              <a:t>Rules live in `member_policy` table so admins adjust loan rules dynamically without modifying codebase.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3. Integrity Constraints</a:t>
            </a:r>
            <a:r>
              <a:rPr b="1" sz="1100">
                <a:solidFill>
                  <a:srgbClr val="1E293B"/>
                </a:solidFill>
              </a:rPr>
              <a:t>• ₹50 Fine Lock Rule: </a:t>
            </a:r>
            <a:r>
              <a:rPr b="0" sz="1100">
                <a:solidFill>
                  <a:srgbClr val="1E293B"/>
                </a:solidFill>
              </a:rPr>
              <a:t>A patron with &gt; ₹50 in unpaid fines cannot borrow any new books.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1 Active Issue / Copy: </a:t>
            </a:r>
            <a:r>
              <a:rPr b="0" sz="1100">
                <a:solidFill>
                  <a:srgbClr val="1E293B"/>
                </a:solidFill>
              </a:rPr>
              <a:t>A physical copy cannot be issued if status is already ISSUED or ON_HOLD.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Reservation Trigger: </a:t>
            </a:r>
            <a:r>
              <a:rPr b="0" sz="1100">
                <a:solidFill>
                  <a:srgbClr val="1E293B"/>
                </a:solidFill>
              </a:rPr>
              <a:t>A reservation can only be placed when 100% of physical copies are checked out.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293B"/>
                </a:solidFill>
              </a:rPr>
              <a:t>• FIFO Hold Transition: </a:t>
            </a:r>
            <a:r>
              <a:rPr b="0" sz="1100">
                <a:solidFill>
                  <a:srgbClr val="1E293B"/>
                </a:solidFill>
              </a:rPr>
              <a:t>Returned books automatically assign to next WAITING reservation and shift to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Conceptual Design: Entity-Relationship (ER)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F46E5"/>
                </a:solidFill>
              </a:defRPr>
            </a:pPr>
            <a:r>
              <a:t>Core Entities &amp; Relationship Mappings</a:t>
            </a:r>
            <a:r>
              <a:rPr b="1" sz="1100">
                <a:solidFill>
                  <a:srgbClr val="1E293B"/>
                </a:solidFill>
              </a:rPr>
              <a:t>• Publisher (1) ──&lt; (N) Edition: </a:t>
            </a:r>
            <a:r>
              <a:rPr b="0" sz="1100">
                <a:solidFill>
                  <a:srgbClr val="1E293B"/>
                </a:solidFill>
              </a:rPr>
              <a:t>A publisher produces many published book editions.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Book (N) &gt;──&lt; (M) Author: </a:t>
            </a:r>
            <a:r>
              <a:rPr b="0" sz="1100">
                <a:solidFill>
                  <a:srgbClr val="1E293B"/>
                </a:solidFill>
              </a:rPr>
              <a:t>Many-to-many relationship resolved using `book_author` bridge table.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Book (1) ──&lt; (N) Edition: </a:t>
            </a:r>
            <a:r>
              <a:rPr b="0" sz="1100">
                <a:solidFill>
                  <a:srgbClr val="1E293B"/>
                </a:solidFill>
              </a:rPr>
              <a:t>One master title work has multiple physical published editions.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Edition (1) ──&lt; (N) Copy: </a:t>
            </a:r>
            <a:r>
              <a:rPr b="0" sz="1100">
                <a:solidFill>
                  <a:srgbClr val="1E293B"/>
                </a:solidFill>
              </a:rPr>
              <a:t>One edition has multiple physical inventory copies on library shelves.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Copy (1) ──&lt; (N) Issue: </a:t>
            </a:r>
            <a:r>
              <a:rPr b="0" sz="1100">
                <a:solidFill>
                  <a:srgbClr val="1E293B"/>
                </a:solidFill>
              </a:rPr>
              <a:t>A copy appears in loan history; only one active issue at a time.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Member (1) ──&lt; (N) Issue: </a:t>
            </a:r>
            <a:r>
              <a:rPr b="0" sz="1100">
                <a:solidFill>
                  <a:srgbClr val="1E293B"/>
                </a:solidFill>
              </a:rPr>
              <a:t>Patrons borrow books governed by their linked `member_policy`.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Issue (1) ──&lt; (0..1) Fine: </a:t>
            </a:r>
            <a:r>
              <a:rPr b="0" sz="1100">
                <a:solidFill>
                  <a:srgbClr val="1E293B"/>
                </a:solidFill>
              </a:rPr>
              <a:t>Late returned books generate at most one fine record.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E293B"/>
                </a:solidFill>
              </a:rPr>
              <a:t>• Edition (1) ──&lt; (N) Reservation: </a:t>
            </a:r>
            <a:r>
              <a:rPr b="0" sz="1100">
                <a:solidFill>
                  <a:srgbClr val="1E293B"/>
                </a:solidFill>
              </a:rPr>
              <a:t>Waitlist entries queue members for checked-out editions.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754880" cy="5477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Key Structural Decision: The 3-Tier Catalog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Tier 1: BOOK (The Work)</a:t>
            </a:r>
            <a:r>
              <a:rPr b="1" sz="1200">
                <a:solidFill>
                  <a:srgbClr val="1E293B"/>
                </a:solidFill>
              </a:rPr>
              <a:t>• Concept: </a:t>
            </a:r>
            <a:r>
              <a:rPr b="0" sz="1200">
                <a:solidFill>
                  <a:srgbClr val="1E293B"/>
                </a:solidFill>
              </a:rPr>
              <a:t>Represents the intellectual literary work regardless of publication format.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Attributes: </a:t>
            </a:r>
            <a:r>
              <a:rPr b="0" sz="1200">
                <a:solidFill>
                  <a:srgbClr val="1E293B"/>
                </a:solidFill>
              </a:rPr>
              <a:t>`book_id` (PK), `title`, `category_id` (FK).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Example: </a:t>
            </a:r>
            <a:r>
              <a:rPr b="0" sz="1200">
                <a:solidFill>
                  <a:srgbClr val="1E293B"/>
                </a:solidFill>
              </a:rPr>
              <a:t>'Database System Concepts'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Advantage: </a:t>
            </a:r>
            <a:r>
              <a:rPr b="0" sz="1200">
                <a:solidFill>
                  <a:srgbClr val="1E293B"/>
                </a:solidFill>
              </a:rPr>
              <a:t>Title name, authors, and classification are defined exactly once. No duplication when multiple editions are purchased.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Tier 2: EDITION (Publication)</a:t>
            </a:r>
            <a:r>
              <a:rPr b="1" sz="1200">
                <a:solidFill>
                  <a:srgbClr val="1E293B"/>
                </a:solidFill>
              </a:rPr>
              <a:t>• Concept: </a:t>
            </a:r>
            <a:r>
              <a:rPr b="0" sz="1200">
                <a:solidFill>
                  <a:srgbClr val="1E293B"/>
                </a:solidFill>
              </a:rPr>
              <a:t>Represents a specific release from a publisher with page count and year.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Attributes: </a:t>
            </a:r>
            <a:r>
              <a:rPr b="0" sz="1200">
                <a:solidFill>
                  <a:srgbClr val="1E293B"/>
                </a:solidFill>
              </a:rPr>
              <a:t>`edition_id` (PK), `book_id` (FK), `publisher_id` (FK), `isbn` (UNIQUE 13-digit), `edition_no`, `pub_year`, `pages`.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Example: </a:t>
            </a:r>
            <a:r>
              <a:rPr b="0" sz="1200">
                <a:solidFill>
                  <a:srgbClr val="1E293B"/>
                </a:solidFill>
              </a:rPr>
              <a:t>7th Edition, McGraw-Hill, 2019, ISBN: 9780078022159.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Advantage: </a:t>
            </a:r>
            <a:r>
              <a:rPr b="0" sz="1200">
                <a:solidFill>
                  <a:srgbClr val="1E293B"/>
                </a:solidFill>
              </a:rPr>
              <a:t>Strictly separates publication metadata from physical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459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Tier 3: COPY (Inventory)</a:t>
            </a:r>
            <a:r>
              <a:rPr b="1" sz="1200">
                <a:solidFill>
                  <a:srgbClr val="1E293B"/>
                </a:solidFill>
              </a:rPr>
              <a:t>• Concept: </a:t>
            </a:r>
            <a:r>
              <a:rPr b="0" sz="1200">
                <a:solidFill>
                  <a:srgbClr val="1E293B"/>
                </a:solidFill>
              </a:rPr>
              <a:t>Represents a specific physical book sitting on the library shelf.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Attributes: </a:t>
            </a:r>
            <a:r>
              <a:rPr b="0" sz="1200">
                <a:solidFill>
                  <a:srgbClr val="1E293B"/>
                </a:solidFill>
              </a:rPr>
              <a:t>`copy_id` (PK), `edition_id` (FK), `accession_no` (UNIQUE barcode), `shelf`, `status` (AVAILABLE, ISSUED, ON_HOLD, WITHDRAWN).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Example: </a:t>
            </a:r>
            <a:r>
              <a:rPr b="0" sz="1200">
                <a:solidFill>
                  <a:srgbClr val="1E293B"/>
                </a:solidFill>
              </a:rPr>
              <a:t>Barcode `ACC-CS-001` on shelf `CS-A1-01`.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Advantage: </a:t>
            </a:r>
            <a:r>
              <a:rPr b="0" sz="1200">
                <a:solidFill>
                  <a:srgbClr val="1E293B"/>
                </a:solidFill>
              </a:rPr>
              <a:t>Enables accurate per-item circulation history and real-time availability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Database Normalization: 1NF to 3NF / BCNF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F46E5"/>
                </a:solidFill>
              </a:defRPr>
            </a:pPr>
            <a:r>
              <a:t>Step-by-Step Normalization Breakdown</a:t>
            </a:r>
            <a:r>
              <a:rPr b="1" sz="1200">
                <a:solidFill>
                  <a:srgbClr val="1E293B"/>
                </a:solidFill>
              </a:rPr>
              <a:t>• First Normal Form (1NF) Compliance: </a:t>
            </a:r>
            <a:r>
              <a:rPr b="0" sz="1200">
                <a:solidFill>
                  <a:srgbClr val="1E293B"/>
                </a:solidFill>
              </a:rPr>
              <a:t>All attributes contain atomic values. Multi-valued fields (e.g. multiple authors for a book) are eliminated by introducing the associative table `book_author(book_id, author_id)`. ISBNs, phone numbers, and dates are stored in singular standardized columns.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Second Normal Form (2NF) Compliance: </a:t>
            </a:r>
            <a:r>
              <a:rPr b="0" sz="1200">
                <a:solidFill>
                  <a:srgbClr val="1E293B"/>
                </a:solidFill>
              </a:rPr>
              <a:t>All non-prime attributes are fully functionally dependent on the primary key. In composite primary key tables (like `book_author`), no non-key attribute depends on just a subset of the primary key. Author details live in `author`, title details live in `book`.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Third Normal Form (3NF) Compliance: </a:t>
            </a:r>
            <a:r>
              <a:rPr b="0" sz="1200">
                <a:solidFill>
                  <a:srgbClr val="1E293B"/>
                </a:solidFill>
              </a:rPr>
              <a:t>Elimination of transitive functional dependencies ($X \rightarrow Y, Y \rightarrow Z$). Example: A member's borrow limit and daily fine rate depend strictly on `member_type`, not `member_id`. Moving `(member_type, max_books, loan_days, fine_per_day)` into `member_policy` ensures that policy changes do not cause update anomalies across thousands of member rows.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293B"/>
                </a:solidFill>
              </a:rPr>
              <a:t>• Boyce-Codd Normal Form (BCNF): </a:t>
            </a:r>
            <a:r>
              <a:rPr b="0" sz="1200">
                <a:solidFill>
                  <a:srgbClr val="1E293B"/>
                </a:solidFill>
              </a:rPr>
              <a:t>Every determinant in every relation is a candidate key. All functional dependencies $X \rightarrow Y$ satisfy the condition that $X$ is a superkey.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Relational Schema Specification &amp; Integrity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Relational Table Catalog (15 Tables)</a:t>
            </a:r>
            <a:r>
              <a:rPr b="1" sz="1200">
                <a:solidFill>
                  <a:srgbClr val="1E293B"/>
                </a:solidFill>
              </a:rPr>
              <a:t>• Master Entities: </a:t>
            </a:r>
            <a:r>
              <a:rPr b="0" sz="1200">
                <a:solidFill>
                  <a:srgbClr val="1E293B"/>
                </a:solidFill>
              </a:rPr>
              <a:t>`publisher`, `author`, `category`, `staff`, `member_policy`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Catalog Schema: </a:t>
            </a:r>
            <a:r>
              <a:rPr b="0" sz="1200">
                <a:solidFill>
                  <a:srgbClr val="1E293B"/>
                </a:solidFill>
              </a:rPr>
              <a:t>`book`, `book_author`, `edition`, `copy`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Circulation Schema: </a:t>
            </a:r>
            <a:r>
              <a:rPr b="0" sz="1200">
                <a:solidFill>
                  <a:srgbClr val="1E293B"/>
                </a:solidFill>
              </a:rPr>
              <a:t>`member`, `issue`, `fine`, `reservation`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Digital Resource Schema: </a:t>
            </a:r>
            <a:r>
              <a:rPr b="0" sz="1200">
                <a:solidFill>
                  <a:srgbClr val="1E293B"/>
                </a:solidFill>
              </a:rPr>
              <a:t>`digital_resource`, `digital_access_log`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Primary Key Policy: </a:t>
            </a:r>
            <a:r>
              <a:rPr b="0" sz="1200">
                <a:solidFill>
                  <a:srgbClr val="1E293B"/>
                </a:solidFill>
              </a:rPr>
              <a:t>Auto-increment synthetic integers for internal joins; natural UNIQUE candidate keys for domain identifiers (`isbn`, `accession_no`, `card_no`).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Enforced Database Constraints</a:t>
            </a:r>
            <a:r>
              <a:rPr b="1" sz="1200">
                <a:solidFill>
                  <a:srgbClr val="1E293B"/>
                </a:solidFill>
              </a:rPr>
              <a:t>• Domain Constraints: </a:t>
            </a:r>
            <a:r>
              <a:rPr b="0" sz="1200">
                <a:solidFill>
                  <a:srgbClr val="1E293B"/>
                </a:solidFill>
              </a:rPr>
              <a:t>CHECK (`max_books` &gt; 0), CHECK (`loan_days` &gt; 0), CHECK (`fine_per_day` &gt;= 0), CHECK (`days_late` &gt;= 0).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Enum Constraints: </a:t>
            </a:r>
            <a:r>
              <a:rPr b="0" sz="1200">
                <a:solidFill>
                  <a:srgbClr val="1E293B"/>
                </a:solidFill>
              </a:rPr>
              <a:t>`role` ENUM('LIBRARIAN', 'ADMIN'); `status` ENUM('AVAILABLE', 'ISSUED', 'ON_HOLD', 'LOST', 'WITHDRAWN'); `member_type` ENUM('STUDENT', 'FACULTY', 'PUBLIC').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Referential Integrity: </a:t>
            </a:r>
            <a:r>
              <a:rPr b="0" sz="1200">
                <a:solidFill>
                  <a:srgbClr val="1E293B"/>
                </a:solidFill>
              </a:rPr>
              <a:t>Foreign key cascades on book deletion (`ON DELETE CASCADE`), while restricting deletion of copies currently out on loan (`RESTRICT`).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Uniqueness: </a:t>
            </a:r>
            <a:r>
              <a:rPr b="0" sz="1200">
                <a:solidFill>
                  <a:srgbClr val="1E293B"/>
                </a:solidFill>
              </a:rPr>
              <a:t>Enforced unique ISBN-13, barcode accession numbers, member card numbers, and staff usernames.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Database Implementation: Schema DDL (`01_schema.sql`)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DDL Implementation Highlights in MySQL 8.0</a:t>
            </a:r>
            <a:r>
              <a:rPr b="1" sz="1200">
                <a:solidFill>
                  <a:srgbClr val="1E293B"/>
                </a:solidFill>
              </a:rPr>
              <a:t>• Engine &amp; Character Set: </a:t>
            </a:r>
            <a:r>
              <a:rPr b="0" sz="1200">
                <a:solidFill>
                  <a:srgbClr val="1E293B"/>
                </a:solidFill>
              </a:rPr>
              <a:t>Configured all tables using MySQL `InnoDB` engine for robust ACID transaction support, foreign key constraints, and crash recovery. Default charset `utf8mb4` with `utf8mb4_unicode_ci` collation.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CHECK Constraint Enforcement: </a:t>
            </a:r>
            <a:r>
              <a:rPr b="0" sz="1200">
                <a:solidFill>
                  <a:srgbClr val="1E293B"/>
                </a:solidFill>
              </a:rPr>
              <a:t>Leveraged MySQL 8.0.16+ native CHECK constraint enforcement to ensure monetary fine amounts, days overdue, and book allocations never accept negative or invalid values.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Temporal Tracking: </a:t>
            </a:r>
            <a:r>
              <a:rPr b="0" sz="1200">
                <a:solidFill>
                  <a:srgbClr val="1E293B"/>
                </a:solidFill>
              </a:rPr>
              <a:t>`issue_date`, `due_date`, `return_date`, and `assessed_on` typed as DATE/DATETIME with DEFAULT `CURRENT_TIMESTAMP` for reliable circulation auditing.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Indexing Strategy: </a:t>
            </a:r>
            <a:r>
              <a:rPr b="0" sz="1200">
                <a:solidFill>
                  <a:srgbClr val="1E293B"/>
                </a:solidFill>
              </a:rPr>
              <a:t>Primary keys indexed automatically; added secondary indexes on `member.card_no`, `copy.accession_no`, `edition.isbn`, and `issue.return_date` to accelerate high-frequency circulation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DBMS PBL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Summary of Review 2 &amp; Roadmap to Final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Library Circulation &amp; Digital Resource Management System | DBMS PBL | REVIEW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Review 2 Deliverables Complete</a:t>
            </a:r>
            <a:r>
              <a:rPr b="1" sz="1200">
                <a:solidFill>
                  <a:srgbClr val="1E293B"/>
                </a:solidFill>
              </a:rPr>
              <a:t>• Conceptual ER Model: </a:t>
            </a:r>
            <a:r>
              <a:rPr b="0" sz="1200">
                <a:solidFill>
                  <a:srgbClr val="1E293B"/>
                </a:solidFill>
              </a:rPr>
              <a:t>Complete entity identification &amp; relationship cardinality defined.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3-Tier Normalization: </a:t>
            </a:r>
            <a:r>
              <a:rPr b="0" sz="1200">
                <a:solidFill>
                  <a:srgbClr val="1E293B"/>
                </a:solidFill>
              </a:rPr>
              <a:t>Separated Book, Edition, Copy; normalized to 3NF/BCNF.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Relational Schema: </a:t>
            </a:r>
            <a:r>
              <a:rPr b="0" sz="1200">
                <a:solidFill>
                  <a:srgbClr val="1E293B"/>
                </a:solidFill>
              </a:rPr>
              <a:t>Full 15-table relational design with primary and foreign keys.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Integrity Architecture: </a:t>
            </a:r>
            <a:r>
              <a:rPr b="0" sz="1200">
                <a:solidFill>
                  <a:srgbClr val="1E293B"/>
                </a:solidFill>
              </a:rPr>
              <a:t>CHECK constraints, ENUM validations, and uniqueness rules.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MySQL DDL Generation: </a:t>
            </a:r>
            <a:r>
              <a:rPr b="0" sz="1200">
                <a:solidFill>
                  <a:srgbClr val="1E293B"/>
                </a:solidFill>
              </a:rPr>
              <a:t>`01_schema.sql` scripted, verified, and executed in MySQL 8.0.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4F46E5"/>
                </a:solidFill>
              </a:defRPr>
            </a:pPr>
            <a:r>
              <a:t>Target Roadmap for Review 3</a:t>
            </a:r>
            <a:r>
              <a:rPr b="1" sz="1200">
                <a:solidFill>
                  <a:srgbClr val="1E293B"/>
                </a:solidFill>
              </a:rPr>
              <a:t>• Data Seeding: </a:t>
            </a:r>
            <a:r>
              <a:rPr b="0" sz="1200">
                <a:solidFill>
                  <a:srgbClr val="1E293B"/>
                </a:solidFill>
              </a:rPr>
              <a:t>Populate database with comprehensive realistic test data (`02_sample_data.sql`).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SQL Views &amp; Queries: </a:t>
            </a:r>
            <a:r>
              <a:rPr b="0" sz="1200">
                <a:solidFill>
                  <a:srgbClr val="1E293B"/>
                </a:solidFill>
              </a:rPr>
              <a:t>Create operational views and analytical queries (joins, aggregations, window functions).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Transaction Management: </a:t>
            </a:r>
            <a:r>
              <a:rPr b="0" sz="1200">
                <a:solidFill>
                  <a:srgbClr val="1E293B"/>
                </a:solidFill>
              </a:rPr>
              <a:t>Implement atomic transaction engine with pessimistic locking in Python (`library.py`).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Dual User Interface: </a:t>
            </a:r>
            <a:r>
              <a:rPr b="0" sz="1200">
                <a:solidFill>
                  <a:srgbClr val="1E293B"/>
                </a:solidFill>
              </a:rPr>
              <a:t>Build full desktop GUI (Tkinter) and modern Web Application (Flask + Tailwind).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293B"/>
                </a:solidFill>
              </a:rPr>
              <a:t>• Systematic Testing: </a:t>
            </a:r>
            <a:r>
              <a:rPr b="0" sz="1200">
                <a:solidFill>
                  <a:srgbClr val="1E293B"/>
                </a:solidFill>
              </a:rPr>
              <a:t>Complete unit and integration test suite (`test_library.py`).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