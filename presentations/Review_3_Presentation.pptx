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5B4FC"/>
                </a:solidFill>
              </a:defRPr>
            </a:pPr>
            <a:r>
              <a:t>DATABASE MANAGEMENT SYSTEMS • FINAL PROJECT REVIEW 3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DESIGN AND IMPLEMENTATION OF A DATABASE MANAGEMENT SYSTEM FOR LIBRARY CIRCULATION AND DIGITAL RESOURCE MANAGEMENT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</a:defRPr>
            </a:pPr>
            <a:r>
              <a:t>Final Phase: Advanced SQL Queries, Analytical Views, ACID Transactions, Dual Front-End (Web &amp; Desktop), Systematic Testing &amp; Deployment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Student: Jai Havish Sannapareddy  |  Roll No: 25WU0102103  |  Program: AI/ML  |  Section: AI/ML RHINOS  |  Faculty: Miss Sahiti  |  15/10/2026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Implementation Journey: Progress from Review 2 to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State at Review 2 (Design Phase)</a:t>
            </a:r>
            <a:r>
              <a:rPr b="1" sz="1200">
                <a:solidFill>
                  <a:srgbClr val="1E293B"/>
                </a:solidFill>
              </a:rPr>
              <a:t>• Conceptual ER Model: </a:t>
            </a:r>
            <a:r>
              <a:rPr b="0" sz="1200">
                <a:solidFill>
                  <a:srgbClr val="1E293B"/>
                </a:solidFill>
              </a:rPr>
              <a:t>Entity-Relationship diagram completed with relationships and cardinalities.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Normalized Relational Schema: </a:t>
            </a:r>
            <a:r>
              <a:rPr b="0" sz="1200">
                <a:solidFill>
                  <a:srgbClr val="1E293B"/>
                </a:solidFill>
              </a:rPr>
              <a:t>15 tables normalized up to 3NF/BCNF.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DDL Scripts Created: </a:t>
            </a:r>
            <a:r>
              <a:rPr b="0" sz="1200">
                <a:solidFill>
                  <a:srgbClr val="1E293B"/>
                </a:solidFill>
              </a:rPr>
              <a:t>`01_schema.sql` written with primary, foreign keys and check constraints.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Limitation: </a:t>
            </a:r>
            <a:r>
              <a:rPr b="0" sz="1200">
                <a:solidFill>
                  <a:srgbClr val="1E293B"/>
                </a:solidFill>
              </a:rPr>
              <a:t>Database was empty; no circulation queries, views, transactions, or user applications existed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Implemented in Review 3 (Final Phase)</a:t>
            </a:r>
            <a:r>
              <a:rPr b="1" sz="1200">
                <a:solidFill>
                  <a:srgbClr val="1E293B"/>
                </a:solidFill>
              </a:rPr>
              <a:t>• Comprehensive Data Population: </a:t>
            </a:r>
            <a:r>
              <a:rPr b="0" sz="1200">
                <a:solidFill>
                  <a:srgbClr val="1E293B"/>
                </a:solidFill>
              </a:rPr>
              <a:t>`02_sample_data.sql` with realistic books, members, issues, fines, and digital logs.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Pre-compiled SQL Views: </a:t>
            </a:r>
            <a:r>
              <a:rPr b="0" sz="1200">
                <a:solidFill>
                  <a:srgbClr val="1E293B"/>
                </a:solidFill>
              </a:rPr>
              <a:t>6 operational views created (`03_views.sql`) including window functions.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Complex SQL Queries: </a:t>
            </a:r>
            <a:r>
              <a:rPr b="0" sz="1200">
                <a:solidFill>
                  <a:srgbClr val="1E293B"/>
                </a:solidFill>
              </a:rPr>
              <a:t>10 benchmark queries (`04_queries.sql`) covering multi-joins, aggregates, and subqueries.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ACID Transaction Engine: </a:t>
            </a:r>
            <a:r>
              <a:rPr b="0" sz="1200">
                <a:solidFill>
                  <a:srgbClr val="1E293B"/>
                </a:solidFill>
              </a:rPr>
              <a:t>Python business layer (`library.py`) with atomic transactions and pessimistic locking.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Dual Interface Applications: </a:t>
            </a:r>
            <a:r>
              <a:rPr b="0" sz="1200">
                <a:solidFill>
                  <a:srgbClr val="1E293B"/>
                </a:solidFill>
              </a:rPr>
              <a:t>Built both a desktop GUI (`app.py`) and a modern web application (`web_app.py`).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Systematic Unit Testing: </a:t>
            </a:r>
            <a:r>
              <a:rPr b="0" sz="1200">
                <a:solidFill>
                  <a:srgbClr val="1E293B"/>
                </a:solidFill>
              </a:rPr>
              <a:t>Automated test suite (`test_library.py`) verifying all business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Database Population &amp; Realism (`02_sample_data.sql`)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Realistic Seed Dataset Overview</a:t>
            </a:r>
            <a:r>
              <a:rPr b="1" sz="1200">
                <a:solidFill>
                  <a:srgbClr val="1E293B"/>
                </a:solidFill>
              </a:rPr>
              <a:t>• Diverse Book Catalogue: </a:t>
            </a:r>
            <a:r>
              <a:rPr b="0" sz="1200">
                <a:solidFill>
                  <a:srgbClr val="1E293B"/>
                </a:solidFill>
              </a:rPr>
              <a:t>Populated with real-world computer science, mathematics, physics, and literature textbooks (e.g. Silberschatz Database Concepts, Cormen Algorithms, Rosen Discrete Mathematics) across diverse publishers (MIT Press, McGraw-Hill, Wiley, Prentice Hall).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Multi-Tier Member Base: </a:t>
            </a:r>
            <a:r>
              <a:rPr b="0" sz="1200">
                <a:solidFill>
                  <a:srgbClr val="1E293B"/>
                </a:solidFill>
              </a:rPr>
              <a:t>Registered Student, Faculty, and Public patrons with valid card numbers, emails, and phone numbers.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Varied Circulation States: </a:t>
            </a:r>
            <a:r>
              <a:rPr b="0" sz="1200">
                <a:solidFill>
                  <a:srgbClr val="1E293B"/>
                </a:solidFill>
              </a:rPr>
              <a:t>Created active loans on shelf copies, on-time returned books, and realistic overdue loans to evaluate penalty calculations.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Fine Accrual Records: </a:t>
            </a:r>
            <a:r>
              <a:rPr b="0" sz="1200">
                <a:solidFill>
                  <a:srgbClr val="1E293B"/>
                </a:solidFill>
              </a:rPr>
              <a:t>Populated both settled and outstanding fine records with exact days overdue and fine assessments.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Hold Reservation Queues: </a:t>
            </a:r>
            <a:r>
              <a:rPr b="0" sz="1200">
                <a:solidFill>
                  <a:srgbClr val="1E293B"/>
                </a:solidFill>
              </a:rPr>
              <a:t>Simulated high-demand titles with patrons waiting in ordered queue positions (`WAITING` and `READY`).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Digital Resource Logs: </a:t>
            </a:r>
            <a:r>
              <a:rPr b="0" sz="1200">
                <a:solidFill>
                  <a:srgbClr val="1E293B"/>
                </a:solidFill>
              </a:rPr>
              <a:t>Recorded patron access sessions on online learning platforms (ACM Digital Library, O'Reilly, MIT OCW).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Advanced SQL Query Implementation (`04_queries.sql`)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4F46E5"/>
                </a:solidFill>
              </a:defRPr>
            </a:pPr>
            <a:r>
              <a:t>Joins &amp; Aggregate Evaluations</a:t>
            </a:r>
            <a:r>
              <a:rPr b="1" sz="1200">
                <a:solidFill>
                  <a:srgbClr val="1E293B"/>
                </a:solidFill>
              </a:rPr>
              <a:t>• Multi-Table Relational Joins: </a:t>
            </a:r>
            <a:r>
              <a:rPr b="0" sz="1200">
                <a:solidFill>
                  <a:srgbClr val="1E293B"/>
                </a:solidFill>
              </a:rPr>
              <a:t>5-table join combining `book`, `edition`, `publisher`, `book_author`, and `author` with `GROUP_CONCAT` to aggregate multi-author names.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Aggregations with GROUP BY &amp; HAVING: </a:t>
            </a:r>
            <a:r>
              <a:rPr b="0" sz="1200">
                <a:solidFill>
                  <a:srgbClr val="1E293B"/>
                </a:solidFill>
              </a:rPr>
              <a:t>Query Q8 groups issues by member and uses `HAVING COUNT(*) &gt;= 3` to isolate frequent borrowers.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Category Volume Aggregates: </a:t>
            </a:r>
            <a:r>
              <a:rPr b="0" sz="1200">
                <a:solidFill>
                  <a:srgbClr val="1E293B"/>
                </a:solidFill>
              </a:rPr>
              <a:t>Query Q9 groups categories with `LEFT JOIN` and computes distinct titles and total physical copies.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563EB"/>
                </a:solidFill>
              </a:defRPr>
            </a:pPr>
            <a:r>
              <a:t>Nested Queries &amp; Subqueries</a:t>
            </a:r>
            <a:r>
              <a:rPr b="1" sz="1200">
                <a:solidFill>
                  <a:srgbClr val="1E293B"/>
                </a:solidFill>
              </a:rPr>
              <a:t>• Nested NOT IN Subquery: </a:t>
            </a:r>
            <a:r>
              <a:rPr b="0" sz="1200">
                <a:solidFill>
                  <a:srgbClr val="1E293B"/>
                </a:solidFill>
              </a:rPr>
              <a:t>Query Q10 isolates dead inventory—books that have never been issued—by nesting a subquery selecting issued copy IDs.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Dynamic Search Subquery: </a:t>
            </a:r>
            <a:r>
              <a:rPr b="0" sz="1200">
                <a:solidFill>
                  <a:srgbClr val="1E293B"/>
                </a:solidFill>
              </a:rPr>
              <a:t>Query Q3 powers catalog search matching titles, author names, categories, or ISBNs simultaneously.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Fine Accrual Calculations: </a:t>
            </a:r>
            <a:r>
              <a:rPr b="0" sz="1200">
                <a:solidFill>
                  <a:srgbClr val="1E293B"/>
                </a:solidFill>
              </a:rPr>
              <a:t>Calculates live fines by combining `DATEDIFF(CURDATE(), i.due_date)` with dynamic member policy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Analytical Database Views (`03_views.sql`)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Pre-Compiled Views for Data Abstraction &amp; Real-Time Reporting</a:t>
            </a:r>
            <a:r>
              <a:rPr b="1" sz="1200">
                <a:solidFill>
                  <a:srgbClr val="1E293B"/>
                </a:solidFill>
              </a:rPr>
              <a:t>• v_available_titles: </a:t>
            </a:r>
            <a:r>
              <a:rPr b="0" sz="1200">
                <a:solidFill>
                  <a:srgbClr val="1E293B"/>
                </a:solidFill>
              </a:rPr>
              <a:t>Real-time list of titles with at least one physical copy on the shelf (`status = 'AVAILABLE'`), with distinct authors concatenated.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v_overdue_copies: </a:t>
            </a:r>
            <a:r>
              <a:rPr b="0" sz="1200">
                <a:solidFill>
                  <a:srgbClr val="1E293B"/>
                </a:solidFill>
              </a:rPr>
              <a:t>Joins `issue`, `copy`, and `member` with `DATEDIFF` to compute exact overdue days and accrued fines per borrower.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v_member_history: </a:t>
            </a:r>
            <a:r>
              <a:rPr b="0" sz="1200">
                <a:solidFill>
                  <a:srgbClr val="1E293B"/>
                </a:solidFill>
              </a:rPr>
              <a:t>Complete historical loan audit per member showing issue date, due date, return date, loan status, and paid fines.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v_popular_books: </a:t>
            </a:r>
            <a:r>
              <a:rPr b="0" sz="1200">
                <a:solidFill>
                  <a:srgbClr val="1E293B"/>
                </a:solidFill>
              </a:rPr>
              <a:t>Aggregates circulation counts by book to highlight high-demand textbooks and reading materials.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v_reservation_queue: </a:t>
            </a:r>
            <a:r>
              <a:rPr b="0" sz="1200">
                <a:solidFill>
                  <a:srgbClr val="1E293B"/>
                </a:solidFill>
              </a:rPr>
              <a:t>Uses the SQL Window Function `ROW_NUMBER() OVER (PARTITION BY edition_id ORDER BY queue_no)` to present live queue positions.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v_fine_summary: </a:t>
            </a:r>
            <a:r>
              <a:rPr b="0" sz="1200">
                <a:solidFill>
                  <a:srgbClr val="1E293B"/>
                </a:solidFill>
              </a:rPr>
              <a:t>Monthly revenue reporting aggregating fines assessed, total collected, and still pending.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Transaction Management &amp; Concurrency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ACID Properties Implementation</a:t>
            </a:r>
            <a:r>
              <a:rPr b="1" sz="1200">
                <a:solidFill>
                  <a:srgbClr val="1E293B"/>
                </a:solidFill>
              </a:rPr>
              <a:t>• Atomicity: </a:t>
            </a:r>
            <a:r>
              <a:rPr b="0" sz="1200">
                <a:solidFill>
                  <a:srgbClr val="1E293B"/>
                </a:solidFill>
              </a:rPr>
              <a:t>All multi-table mutations (e.g. issuing a book updates `copy.status`, inserts `issue`, and updates `reservation`) run inside a Python transaction context manager (`tx()`). If any step errors, the entire block rolls back.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Consistency: </a:t>
            </a:r>
            <a:r>
              <a:rPr b="0" sz="1200">
                <a:solidFill>
                  <a:srgbClr val="1E293B"/>
                </a:solidFill>
              </a:rPr>
              <a:t>Foreign keys and CHECK constraints prevent corrupt states; borrow limit and fine lock validations precede any write.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Isolation: </a:t>
            </a:r>
            <a:r>
              <a:rPr b="0" sz="1200">
                <a:solidFill>
                  <a:srgbClr val="1E293B"/>
                </a:solidFill>
              </a:rPr>
              <a:t>Transactions prevent dirty and non-repeatable reads using MySQL InnoDB default REPEATABLE READ isolation.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Durability: </a:t>
            </a:r>
            <a:r>
              <a:rPr b="0" sz="1200">
                <a:solidFill>
                  <a:srgbClr val="1E293B"/>
                </a:solidFill>
              </a:rPr>
              <a:t>Committed transactions persist to disk via MySQL write-ahead redo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Pessimistic Concurrency Locking</a:t>
            </a:r>
            <a:r>
              <a:rPr b="1" sz="1200">
                <a:solidFill>
                  <a:srgbClr val="1E293B"/>
                </a:solidFill>
              </a:rPr>
              <a:t>• SELECT ... FOR UPDATE: </a:t>
            </a:r>
            <a:r>
              <a:rPr b="0" sz="1200">
                <a:solidFill>
                  <a:srgbClr val="1E293B"/>
                </a:solidFill>
              </a:rPr>
              <a:t>Used during issue, return, and reservation operations. Locks the target `copy` and `member` rows to prevent race conditions when two librarians attempt to issue the same book simultaneously.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Queue Number Serialization: </a:t>
            </a:r>
            <a:r>
              <a:rPr b="0" sz="1200">
                <a:solidFill>
                  <a:srgbClr val="1E293B"/>
                </a:solidFill>
              </a:rPr>
              <a:t>Locks the edition reservation rows to guarantee sequential, un-duplicated `queue_no` assignment during concurrent reservation requests.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Automatic Rollbacks: </a:t>
            </a:r>
            <a:r>
              <a:rPr b="0" sz="1200">
                <a:solidFill>
                  <a:srgbClr val="1E293B"/>
                </a:solidFill>
              </a:rPr>
              <a:t>Handles integrity errors and custom `LibraryError` exceptions gracefully, reporting clean feedback to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Business Logic &amp; Circulation Engine (`library.py`)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Python Business Layer Architecture</a:t>
            </a:r>
            <a:r>
              <a:rPr b="1" sz="1200">
                <a:solidFill>
                  <a:srgbClr val="1E293B"/>
                </a:solidFill>
              </a:rPr>
              <a:t>• Shared Codebase: </a:t>
            </a:r>
            <a:r>
              <a:rPr b="0" sz="1200">
                <a:solidFill>
                  <a:srgbClr val="1E293B"/>
                </a:solidFill>
              </a:rPr>
              <a:t>`app/library.py` contains all circulation logic, shared identically across the desktop GUI (`app.py`), the web app (`web_app.py`), and the automated test suite (`tests/test_library.py`).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Input Validation Engine: </a:t>
            </a:r>
            <a:r>
              <a:rPr b="0" sz="1200">
                <a:solidFill>
                  <a:srgbClr val="1E293B"/>
                </a:solidFill>
              </a:rPr>
              <a:t>Custom regex sanitization: `check_isbn` verifies strict 13-digit format; `check_email` verifies valid email syntax; `check_phone` enforces 10 digits.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₹50 Fine Lock Enforcement: </a:t>
            </a:r>
            <a:r>
              <a:rPr b="0" sz="1200">
                <a:solidFill>
                  <a:srgbClr val="1E293B"/>
                </a:solidFill>
              </a:rPr>
              <a:t>Queries outstanding unpaid fines for the borrower; blocks book checkouts if debt exceeds ₹50.00.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Book Return &amp; Dynamic Fine Calculation: </a:t>
            </a:r>
            <a:r>
              <a:rPr b="0" sz="1200">
                <a:solidFill>
                  <a:srgbClr val="1E293B"/>
                </a:solidFill>
              </a:rPr>
              <a:t>Computes `(today - due_date)` in days and multiplies by `fine_per_day` for that borrower's tier; inserts a `fine` record only if overdue.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FIFO Hold Queue Transition: </a:t>
            </a:r>
            <a:r>
              <a:rPr b="0" sz="1200">
                <a:solidFill>
                  <a:srgbClr val="1E293B"/>
                </a:solidFill>
              </a:rPr>
              <a:t>When a book is returned, `_free_copy()` checks for WAITING reservations. If found, the copy is reserved as `ON_HOLD` and reservation status becomes `READY`.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Front-End Applications: Desktop GUI &amp; Web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1. Desktop GUI (`app/app.py`)</a:t>
            </a:r>
            <a:r>
              <a:rPr b="1" sz="1200">
                <a:solidFill>
                  <a:srgbClr val="1E293B"/>
                </a:solidFill>
              </a:rPr>
              <a:t>• Framework: </a:t>
            </a:r>
            <a:r>
              <a:rPr b="0" sz="1200">
                <a:solidFill>
                  <a:srgbClr val="1E293B"/>
                </a:solidFill>
              </a:rPr>
              <a:t>Python Tkinter with custom `ttk` styling (`clam` engine).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Design System: </a:t>
            </a:r>
            <a:r>
              <a:rPr b="0" sz="1200">
                <a:solidFill>
                  <a:srgbClr val="1E293B"/>
                </a:solidFill>
              </a:rPr>
              <a:t>Deep navy header, card-based layout, Segoe UI typography.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Key Screens: </a:t>
            </a:r>
            <a:r>
              <a:rPr b="0" sz="1200">
                <a:solidFill>
                  <a:srgbClr val="1E293B"/>
                </a:solidFill>
              </a:rPr>
              <a:t>Dashboard overview, Catalogue search &amp; copy adder, Circulation issue/return, Member directory, Reservations queue, Fines ledger, Reports exporter.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Best For: </a:t>
            </a:r>
            <a:r>
              <a:rPr b="0" sz="1200">
                <a:solidFill>
                  <a:srgbClr val="1E293B"/>
                </a:solidFill>
              </a:rPr>
              <a:t>Librarian desktop workstations with local peripheral barcode scanners.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2. Modern Web App (`web_app.py`)</a:t>
            </a:r>
            <a:r>
              <a:rPr b="1" sz="1200">
                <a:solidFill>
                  <a:srgbClr val="1E293B"/>
                </a:solidFill>
              </a:rPr>
              <a:t>• Stack: </a:t>
            </a:r>
            <a:r>
              <a:rPr b="0" sz="1200">
                <a:solidFill>
                  <a:srgbClr val="1E293B"/>
                </a:solidFill>
              </a:rPr>
              <a:t>Python Flask REST API + HTML5 / Tailwind CSS + Chart.js.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Design System: </a:t>
            </a:r>
            <a:r>
              <a:rPr b="0" sz="1200">
                <a:solidFill>
                  <a:srgbClr val="1E293B"/>
                </a:solidFill>
              </a:rPr>
              <a:t>Modern SaaS responsive layout with real-time donut and bar charts.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Interactive Features: </a:t>
            </a:r>
            <a:r>
              <a:rPr b="0" sz="1200">
                <a:solidFill>
                  <a:srgbClr val="1E293B"/>
                </a:solidFill>
              </a:rPr>
              <a:t>Instant live search, animated toast alerts, interactive issue/return dropdowns, member history drawer, 1-click fine payments, and CSV export.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E293B"/>
                </a:solidFill>
              </a:rPr>
              <a:t>• Zero-Friction Fallback: </a:t>
            </a:r>
            <a:r>
              <a:rPr b="0" sz="1200">
                <a:solidFill>
                  <a:srgbClr val="1E293B"/>
                </a:solidFill>
              </a:rPr>
              <a:t>Includes live MySQL connection modal AND zero-setup in-memory fallback demo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Application Demonstration: Core Operational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4F46E5"/>
                </a:solidFill>
              </a:defRPr>
            </a:pPr>
            <a:r>
              <a:t>Executive Dashboard &amp; Overdue Board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846320" cy="29570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Circulation Desk (Book Issue &amp; Return)</a:t>
            </a:r>
          </a:p>
        </p:txBody>
      </p:sp>
      <p:pic>
        <p:nvPicPr>
          <p:cNvPr id="10" name="Picture 9" descr="iss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4846320" cy="29570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Systematic Testing &amp; Rule Verification (`tests/test_library.py`)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Automated Test Suite Methodology &amp; Test Scenarios</a:t>
            </a:r>
            <a:r>
              <a:rPr b="1" sz="1200">
                <a:solidFill>
                  <a:srgbClr val="1E293B"/>
                </a:solidFill>
              </a:rPr>
              <a:t>• Isolated Test Harness: </a:t>
            </a:r>
            <a:r>
              <a:rPr b="0" sz="1200">
                <a:solidFill>
                  <a:srgbClr val="1E293B"/>
                </a:solidFill>
              </a:rPr>
              <a:t>Each test run drops and rebuilds `library_db` from `01_schema.sql`, `02_sample_data.sql`, and `03_views.sql` to guarantee repeatability.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Borrow Limit Enforcement Tests: </a:t>
            </a:r>
            <a:r>
              <a:rPr b="0" sz="1200">
                <a:solidFill>
                  <a:srgbClr val="1E293B"/>
                </a:solidFill>
              </a:rPr>
              <a:t>Verifies that student patrons holding 3 books are strictly blocked upon attempting to check out a 4th book.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Fine Lock Verification Tests: </a:t>
            </a:r>
            <a:r>
              <a:rPr b="0" sz="1200">
                <a:solidFill>
                  <a:srgbClr val="1E293B"/>
                </a:solidFill>
              </a:rPr>
              <a:t>Verifies that an unpaid fine exceeding ₹50.00 blocks borrowing, while a partial payment bringing debt below ₹50 restores borrowing rights.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Overdue Math Validation Tests: </a:t>
            </a:r>
            <a:r>
              <a:rPr b="0" sz="1200">
                <a:solidFill>
                  <a:srgbClr val="1E293B"/>
                </a:solidFill>
              </a:rPr>
              <a:t>Simulates overdue dates and asserts that calculated fines exactly equal `(days_late * fine_per_day)` according to member tier.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Reservation Queue Fulfillment Tests: </a:t>
            </a:r>
            <a:r>
              <a:rPr b="0" sz="1200">
                <a:solidFill>
                  <a:srgbClr val="1E293B"/>
                </a:solidFill>
              </a:rPr>
              <a:t>Tests that returning a reserved book puts the copy into `ON_HOLD`, advances the reservation to `READY`, and prevents other patrons from taking it.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Transaction Rollback Tests: </a:t>
            </a:r>
            <a:r>
              <a:rPr b="0" sz="1200">
                <a:solidFill>
                  <a:srgbClr val="1E293B"/>
                </a:solidFill>
              </a:rPr>
              <a:t>Forces database errors and verifies that partial writes leave zero residual records in `copy` or `issue`.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Technical Achievements &amp; Project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</a:defRPr>
            </a:pPr>
            <a:r>
              <a:t>1. Data Integrity</a:t>
            </a:r>
            <a:r>
              <a:rPr b="1" sz="1100">
                <a:solidFill>
                  <a:srgbClr val="1E293B"/>
                </a:solidFill>
              </a:rPr>
              <a:t>• Normalized 3NF: </a:t>
            </a:r>
            <a:r>
              <a:rPr b="0" sz="1100">
                <a:solidFill>
                  <a:srgbClr val="1E293B"/>
                </a:solidFill>
              </a:rPr>
              <a:t>Zero data redundancy across titles, authors, editions, and copies.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Integrity Constraints: </a:t>
            </a:r>
            <a:r>
              <a:rPr b="0" sz="1100">
                <a:solidFill>
                  <a:srgbClr val="1E293B"/>
                </a:solidFill>
              </a:rPr>
              <a:t>Strict CHECK and foreign key rules prevent invalid entries at the database engine level.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ACID Guarantees: </a:t>
            </a:r>
            <a:r>
              <a:rPr b="0" sz="1100">
                <a:solidFill>
                  <a:srgbClr val="1E293B"/>
                </a:solidFill>
              </a:rPr>
              <a:t>Atomic transactions protect multi-table updates from corruption.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2. Operational Performance</a:t>
            </a:r>
            <a:r>
              <a:rPr b="1" sz="1100">
                <a:solidFill>
                  <a:srgbClr val="1E293B"/>
                </a:solidFill>
              </a:rPr>
              <a:t>• Pre-Compiled Views: </a:t>
            </a:r>
            <a:r>
              <a:rPr b="0" sz="1100">
                <a:solidFill>
                  <a:srgbClr val="1E293B"/>
                </a:solidFill>
              </a:rPr>
              <a:t>Eliminates repetitive complex join queries for common circulation screens.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Indexing Architecture: </a:t>
            </a:r>
            <a:r>
              <a:rPr b="0" sz="1100">
                <a:solidFill>
                  <a:srgbClr val="1E293B"/>
                </a:solidFill>
              </a:rPr>
              <a:t>Primary and secondary B-Tree indexes speed up lookups on barcodes and ISBNs.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Pessimistic Locking: </a:t>
            </a:r>
            <a:r>
              <a:rPr b="0" sz="1100">
                <a:solidFill>
                  <a:srgbClr val="1E293B"/>
                </a:solidFill>
              </a:rPr>
              <a:t>Prevents concurrency collisions during peak circulation periods.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3. Usability &amp; Deliverables</a:t>
            </a:r>
            <a:r>
              <a:rPr b="1" sz="1100">
                <a:solidFill>
                  <a:srgbClr val="1E293B"/>
                </a:solidFill>
              </a:rPr>
              <a:t>• Dual Interface: </a:t>
            </a:r>
            <a:r>
              <a:rPr b="0" sz="1100">
                <a:solidFill>
                  <a:srgbClr val="1E293B"/>
                </a:solidFill>
              </a:rPr>
              <a:t>Provides both desktop GUI and responsive browser web interface.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Automated Tests: </a:t>
            </a:r>
            <a:r>
              <a:rPr b="0" sz="1100">
                <a:solidFill>
                  <a:srgbClr val="1E293B"/>
                </a:solidFill>
              </a:rPr>
              <a:t>Comprehensive test suite verifying business logic.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Complete Documentation: </a:t>
            </a:r>
            <a:r>
              <a:rPr b="0" sz="1100">
                <a:solidFill>
                  <a:srgbClr val="1E293B"/>
                </a:solidFill>
              </a:rPr>
              <a:t>Formal project reports in Markdown, Word, PDF, and PPTX.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Project Summary</a:t>
            </a:r>
            <a:r>
              <a:rPr b="1" sz="1200">
                <a:solidFill>
                  <a:srgbClr val="1E293B"/>
                </a:solidFill>
              </a:rPr>
              <a:t>• Complete Lifecycle: </a:t>
            </a:r>
            <a:r>
              <a:rPr b="0" sz="1200">
                <a:solidFill>
                  <a:srgbClr val="1E293B"/>
                </a:solidFill>
              </a:rPr>
              <a:t>Successfully executed the entire database development lifecycle from requirement analysis, conceptual modeling, normalization, physical implementation, to full-stack application deployment.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Objective Achieved: </a:t>
            </a:r>
            <a:r>
              <a:rPr b="0" sz="1200">
                <a:solidFill>
                  <a:srgbClr val="1E293B"/>
                </a:solidFill>
              </a:rPr>
              <a:t>Replaced uncoordinated registers with an integrated, reliable DBMS enforcing circulation rules, queue order, fine settlement, and digital usage tracking.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Ready for Production: </a:t>
            </a:r>
            <a:r>
              <a:rPr b="0" sz="1200">
                <a:solidFill>
                  <a:srgbClr val="1E293B"/>
                </a:solidFill>
              </a:rPr>
              <a:t>Equipped with dual user interfaces, comprehensive test suite, and database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Future Enhancements</a:t>
            </a:r>
            <a:r>
              <a:rPr b="1" sz="1200">
                <a:solidFill>
                  <a:srgbClr val="1E293B"/>
                </a:solidFill>
              </a:rPr>
              <a:t>• Hardware Integration: </a:t>
            </a:r>
            <a:r>
              <a:rPr b="0" sz="1200">
                <a:solidFill>
                  <a:srgbClr val="1E293B"/>
                </a:solidFill>
              </a:rPr>
              <a:t>Direct integration with handheld Barcode / QR / RFID scanners for automated shelf audits.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Automated Notifications: </a:t>
            </a:r>
            <a:r>
              <a:rPr b="0" sz="1200">
                <a:solidFill>
                  <a:srgbClr val="1E293B"/>
                </a:solidFill>
              </a:rPr>
              <a:t>Automated email / SMS webhooks notifying patrons 2 days before due dates and alerting reservation holders when books become READY.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Online Student Portal: </a:t>
            </a:r>
            <a:r>
              <a:rPr b="0" sz="1200">
                <a:solidFill>
                  <a:srgbClr val="1E293B"/>
                </a:solidFill>
              </a:rPr>
              <a:t>Self-service mobile web portal allowing students to view active loans and renew books remotely.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